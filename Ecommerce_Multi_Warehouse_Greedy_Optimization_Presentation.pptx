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06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title, your identity, college, and supervisor. Explain that the project combines a working e-commerce system with a cost-based greedy fulfillment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gap between enterprise-scale fulfillment and small e-commerce. Emphasize the lack of automated assignment and explicit single-versus-split cost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five objectives in order: build the store, parameterize costs, make fulfillment decisions, provide what-if simulation, and report operational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the project boundaries: 5–10 warehouses, 50–200 SKUs, per-order decisions, PHP/MySQL, and one server. Mention limitations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literature as motivation rather than claiming identical internal implementations. The project adapts general fulfillment principles to a smaller academic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Waterfall development methodology and the end-to-end fulfillment workflow from order placement to admin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main technical slide. Explain the three tiers, the key tables, the greedy decision sequence, and the parameterized cost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the project is feasible: familiar technologies, manageable computational scale, no paid external services, and synthetic data for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expected deliverables and the planned 12-week sequence. Adjust the timeline to reflect your actual project progress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project's contribution and practical future extensions such as ILP comparison, proximity expansion, dynamic pricing parameters, routing, and larger warehouse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0" y="1051560"/>
            <a:ext cx="713232" cy="868680"/>
          </a:xfrm>
          <a:prstGeom prst="roundRect">
            <a:avLst/>
          </a:prstGeom>
          <a:solidFill>
            <a:srgbClr val="E5F1FA"/>
          </a:solidFill>
          <a:ln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1000" y="12984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6CAB"/>
                </a:solidFill>
                <a:latin typeface="Aptos"/>
              </a:defRPr>
            </a:pPr>
            <a:r>
              <a:t>WH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6773"/>
                </a:solidFill>
                <a:latin typeface="Aptos"/>
              </a:defRPr>
            </a:pPr>
            <a:r>
              <a:t>Multi-Warehouse Fulfillment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051560"/>
            <a:ext cx="713232" cy="868680"/>
          </a:xfrm>
          <a:prstGeom prst="roundRect">
            <a:avLst/>
          </a:prstGeom>
          <a:solidFill>
            <a:srgbClr val="E5F1FA"/>
          </a:solidFill>
          <a:ln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12984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6CAB"/>
                </a:solidFill>
                <a:latin typeface="Aptos"/>
              </a:defRPr>
            </a:pPr>
            <a:r>
              <a:t>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6773"/>
                </a:solidFill>
                <a:latin typeface="Aptos"/>
              </a:defRPr>
            </a:pPr>
            <a:r>
              <a:t>Multi-Warehouse Fulfillment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1051560"/>
            <a:ext cx="713232" cy="868680"/>
          </a:xfrm>
          <a:prstGeom prst="roundRect">
            <a:avLst/>
          </a:prstGeom>
          <a:solidFill>
            <a:srgbClr val="E5F1FA"/>
          </a:solidFill>
          <a:ln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29800" y="12984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6CAB"/>
                </a:solidFill>
                <a:latin typeface="Aptos"/>
              </a:defRPr>
            </a:pPr>
            <a:r>
              <a:t>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11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6773"/>
                </a:solidFill>
                <a:latin typeface="Aptos"/>
              </a:defRPr>
            </a:pPr>
            <a:r>
              <a:rPr dirty="0"/>
              <a:t>Multi-Warehouse Fulfillment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17320"/>
            <a:ext cx="65836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E-Commerce Multi-Warehouse</a:t>
            </a:r>
            <a:b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Order Fulfillment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6217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06CAB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with Greedy Cost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6035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B6773"/>
                </a:solidFill>
                <a:latin typeface="Aptos"/>
              </a:defRPr>
            </a:pPr>
            <a:r>
              <a:rPr lang="en-US" dirty="0"/>
              <a:t>Anish Tamang         </a:t>
            </a:r>
            <a:r>
              <a:rPr dirty="0"/>
              <a:t>|  Roll No: [XXX]</a:t>
            </a:r>
            <a:br>
              <a:rPr dirty="0"/>
            </a:br>
            <a:r>
              <a:rPr lang="en-US" dirty="0"/>
              <a:t>Man Bahadur Pun  |  Roll No: [XXX]</a:t>
            </a:r>
          </a:p>
          <a:p>
            <a:pPr algn="l">
              <a:defRPr sz="1800" b="0">
                <a:solidFill>
                  <a:srgbClr val="5B6773"/>
                </a:solidFill>
                <a:latin typeface="Aptos"/>
              </a:defRPr>
            </a:pPr>
            <a:r>
              <a:rPr dirty="0"/>
              <a:t>BCA 6th Semester  |  [</a:t>
            </a:r>
            <a:r>
              <a:rPr lang="en-US" dirty="0"/>
              <a:t>ICMS</a:t>
            </a:r>
            <a:r>
              <a:rPr dirty="0"/>
              <a:t>]</a:t>
            </a:r>
            <a:br>
              <a:rPr dirty="0"/>
            </a:br>
            <a:r>
              <a:rPr dirty="0"/>
              <a:t>Supervisor: [Name]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773"/>
                </a:solidFill>
                <a:latin typeface="Aptos"/>
              </a:defRPr>
            </a:pPr>
            <a:r>
              <a:rPr dirty="0"/>
              <a:t>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8378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474720" cy="1143000"/>
          </a:xfrm>
          <a:prstGeom prst="roundRect">
            <a:avLst/>
          </a:prstGeom>
          <a:solidFill>
            <a:srgbClr val="E5F1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64008" cy="1143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252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740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D21"/>
                </a:solidFill>
                <a:latin typeface="Aptos"/>
              </a:defRPr>
            </a:pPr>
            <a:r>
              <a:t>Large platforms use fast heuristics with proximity and optimization at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68880"/>
            <a:ext cx="347472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64008" cy="1234440"/>
          </a:xfrm>
          <a:prstGeom prst="rect">
            <a:avLst/>
          </a:prstGeom>
          <a:solidFill>
            <a:srgbClr val="5B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5786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740"/>
                </a:solidFill>
                <a:latin typeface="Aptos"/>
              </a:defRPr>
            </a:pPr>
            <a:r>
              <a:t>Current Small E-Commerce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D21"/>
                </a:solidFill>
                <a:latin typeface="Aptos"/>
              </a:defRPr>
            </a:pPr>
            <a:r>
              <a:t>Single warehouse or manual assignment; limited cost comparison.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86200"/>
            <a:ext cx="3474720" cy="1417320"/>
          </a:xfrm>
          <a:prstGeom prst="roundRect">
            <a:avLst/>
          </a:prstGeom>
          <a:solidFill>
            <a:srgbClr val="FBEBEB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3886200"/>
            <a:ext cx="64008" cy="14173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3995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740"/>
                </a:solidFill>
                <a:latin typeface="Aptos"/>
              </a:defRPr>
            </a:pPr>
            <a:r>
              <a:t>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389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D21"/>
                </a:solidFill>
                <a:latin typeface="Aptos"/>
              </a:defRPr>
            </a:pPr>
            <a:r>
              <a:t>✕ No automated assignment</a:t>
            </a:r>
            <a:br/>
            <a:r>
              <a:t>✕ No split-or-not comparison</a:t>
            </a:r>
            <a:br/>
            <a:r>
              <a:t>✕ No parameterized cost model</a:t>
            </a:r>
            <a:br/>
            <a:r>
              <a:t>✕ Enterprise tools are overkill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143000"/>
            <a:ext cx="704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Scale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828800"/>
            <a:ext cx="2286000" cy="1325880"/>
          </a:xfrm>
          <a:prstGeom prst="roundRect">
            <a:avLst/>
          </a:prstGeom>
          <a:solidFill>
            <a:srgbClr val="F2F5F7"/>
          </a:solidFill>
          <a:ln w="16510">
            <a:solidFill>
              <a:srgbClr val="5B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5B6773"/>
                </a:solidFill>
                <a:latin typeface="Aptos"/>
              </a:defRPr>
            </a:pPr>
            <a:r>
              <a:t>CURRENT</a:t>
            </a:r>
            <a:br/>
            <a:r>
              <a:t>1 Warehouse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828800"/>
            <a:ext cx="2560320" cy="132588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06CAB"/>
                </a:solidFill>
                <a:latin typeface="Aptos"/>
              </a:defRPr>
            </a:pPr>
            <a:r>
              <a:t>PROPOSED</a:t>
            </a:r>
            <a:br/>
            <a:r>
              <a:t>5–10 Warehouses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03720" y="2487168"/>
            <a:ext cx="914400" cy="0"/>
          </a:xfrm>
          <a:prstGeom prst="line">
            <a:avLst/>
          </a:prstGeom>
          <a:ln w="38100">
            <a:solidFill>
              <a:srgbClr val="206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0" y="3429000"/>
            <a:ext cx="228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6773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75000"/>
                  </a:schemeClr>
                </a:solidFill>
              </a:rPr>
              <a:t>Manual / fixed</a:t>
            </a:r>
            <a:br>
              <a:rPr dirty="0">
                <a:solidFill>
                  <a:schemeClr val="bg1">
                    <a:lumMod val="75000"/>
                  </a:schemeClr>
                </a:solidFill>
              </a:rPr>
            </a:br>
            <a:r>
              <a:rPr dirty="0">
                <a:solidFill>
                  <a:schemeClr val="bg1">
                    <a:lumMod val="75000"/>
                  </a:schemeClr>
                </a:solidFill>
              </a:rPr>
              <a:t>assignment</a:t>
            </a:r>
            <a:br>
              <a:rPr dirty="0">
                <a:solidFill>
                  <a:schemeClr val="bg1">
                    <a:lumMod val="75000"/>
                  </a:schemeClr>
                </a:solidFill>
              </a:rPr>
            </a:br>
            <a:br>
              <a:rPr dirty="0">
                <a:solidFill>
                  <a:schemeClr val="bg1">
                    <a:lumMod val="75000"/>
                  </a:schemeClr>
                </a:solidFill>
              </a:rPr>
            </a:br>
            <a:r>
              <a:rPr dirty="0">
                <a:solidFill>
                  <a:schemeClr val="bg1">
                    <a:lumMod val="75000"/>
                  </a:schemeClr>
                </a:solidFill>
              </a:rPr>
              <a:t>Limited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429000"/>
            <a:ext cx="2560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06CAB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Greedy decision</a:t>
            </a:r>
            <a:b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b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Single vs. split</a:t>
            </a:r>
            <a:b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cost comparison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5166360"/>
            <a:ext cx="4572000" cy="731520"/>
          </a:xfrm>
          <a:prstGeom prst="roundRect">
            <a:avLst/>
          </a:prstGeom>
          <a:solidFill>
            <a:srgbClr val="E7F7EF"/>
          </a:solidFill>
          <a:ln w="1651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8963"/>
                </a:solidFill>
                <a:latin typeface="Aptos"/>
              </a:defRPr>
            </a:pPr>
            <a:r>
              <a:t>Need: lightweight greedy engine inside a working e-commerce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5781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Main Aim: Minimize fulfillment cost using a greedy algorithm with a parameterized cost model.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2240280"/>
            <a:ext cx="685800" cy="68580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39572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960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6118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B6773"/>
                </a:solidFill>
                <a:latin typeface="Aptos"/>
              </a:defRPr>
            </a:pPr>
            <a:r>
              <a:t>Multi-warehouse</a:t>
            </a:r>
            <a:br/>
            <a:r>
              <a:t>store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44168" y="2578608"/>
            <a:ext cx="1325880" cy="0"/>
          </a:xfrm>
          <a:prstGeom prst="line">
            <a:avLst/>
          </a:prstGeom>
          <a:ln w="2286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834640" y="2240280"/>
            <a:ext cx="685800" cy="68580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239572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154680"/>
            <a:ext cx="960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6118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B6773"/>
                </a:solidFill>
                <a:latin typeface="Aptos"/>
              </a:defRPr>
            </a:pPr>
            <a:r>
              <a:rPr dirty="0"/>
              <a:t>Parameterized</a:t>
            </a:r>
            <a:br>
              <a:rPr dirty="0"/>
            </a:br>
            <a:r>
              <a:rPr dirty="0"/>
              <a:t>costs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2578608"/>
            <a:ext cx="1325880" cy="0"/>
          </a:xfrm>
          <a:prstGeom prst="line">
            <a:avLst/>
          </a:prstGeom>
          <a:ln w="2286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74920" y="2240280"/>
            <a:ext cx="685800" cy="68580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239572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154680"/>
            <a:ext cx="960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118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B6773"/>
                </a:solidFill>
                <a:latin typeface="Aptos"/>
              </a:defRPr>
            </a:pPr>
            <a:r>
              <a:t>Single vs.</a:t>
            </a:r>
            <a:br/>
            <a:r>
              <a:t>split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24728" y="2578608"/>
            <a:ext cx="1325880" cy="0"/>
          </a:xfrm>
          <a:prstGeom prst="line">
            <a:avLst/>
          </a:prstGeom>
          <a:ln w="2286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15200" y="2240280"/>
            <a:ext cx="685800" cy="68580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239572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154680"/>
            <a:ext cx="108204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Simulate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6118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B6773"/>
                </a:solidFill>
                <a:latin typeface="Aptos"/>
              </a:defRPr>
            </a:pPr>
            <a:r>
              <a:t>Admin what-if</a:t>
            </a:r>
            <a:br/>
            <a:r>
              <a:t>analysis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65008" y="2578608"/>
            <a:ext cx="1325880" cy="0"/>
          </a:xfrm>
          <a:prstGeom prst="line">
            <a:avLst/>
          </a:prstGeom>
          <a:ln w="2286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555480" y="2240280"/>
            <a:ext cx="685800" cy="68580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55480" y="239572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3154680"/>
            <a:ext cx="960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6118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B6773"/>
                </a:solidFill>
                <a:latin typeface="Aptos"/>
              </a:defRPr>
            </a:pPr>
            <a:r>
              <a:rPr dirty="0"/>
              <a:t>Cost, split rate,</a:t>
            </a:r>
            <a:br>
              <a:rPr dirty="0"/>
            </a:br>
            <a:r>
              <a:rPr dirty="0"/>
              <a:t>warehouse load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5120640"/>
            <a:ext cx="6766560" cy="73152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2740"/>
                </a:solidFill>
                <a:latin typeface="Aptos"/>
              </a:defRPr>
            </a:pPr>
            <a:r>
              <a:t>🛒  →  ⚙  →  🧠  →  📊  →  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53295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Scope &amp; Target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5074920" cy="1600200"/>
          </a:xfrm>
          <a:prstGeom prst="roundRect">
            <a:avLst/>
          </a:prstGeom>
          <a:solidFill>
            <a:srgbClr val="E5F1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64008" cy="16002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16128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740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1D21"/>
                </a:solidFill>
                <a:latin typeface="Aptos"/>
              </a:defRPr>
            </a:pPr>
            <a:r>
              <a:t>• 5–10 warehouses</a:t>
            </a:r>
            <a:br/>
            <a:r>
              <a:t>• 50–200 SKUs</a:t>
            </a:r>
            <a:br/>
            <a:r>
              <a:t>• Per-order greedy fulfillment</a:t>
            </a:r>
            <a:br/>
            <a:r>
              <a:t>• PHP + MySQL on one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80360"/>
            <a:ext cx="5074920" cy="2057400"/>
          </a:xfrm>
          <a:prstGeom prst="roundRect">
            <a:avLst/>
          </a:prstGeom>
          <a:solidFill>
            <a:srgbClr val="F2F5F7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880360"/>
            <a:ext cx="64008" cy="2057400"/>
          </a:xfrm>
          <a:prstGeom prst="rect">
            <a:avLst/>
          </a:prstGeom>
          <a:solidFill>
            <a:srgbClr val="5B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99008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740"/>
                </a:solidFill>
                <a:latin typeface="Aptos"/>
              </a:defRPr>
            </a:pPr>
            <a:r>
              <a:t>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83280"/>
            <a:ext cx="480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1D21"/>
                </a:solidFill>
                <a:latin typeface="Aptos"/>
              </a:defRPr>
            </a:pPr>
            <a:r>
              <a:rPr dirty="0"/>
              <a:t>Catalog  ·  Cart / Checkout  ·  Greedy Engine</a:t>
            </a:r>
            <a:br>
              <a:rPr dirty="0"/>
            </a:br>
            <a:r>
              <a:rPr dirty="0"/>
              <a:t>Warehouse </a:t>
            </a:r>
            <a:r>
              <a:rPr lang="en-US" dirty="0"/>
              <a:t>&amp; Inventory </a:t>
            </a:r>
            <a:r>
              <a:rPr dirty="0"/>
              <a:t>Management  ·  Cost Configuration  ·  Reports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89320" y="1143000"/>
          <a:ext cx="5440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64008" marR="64008" marT="36576" marB="36576">
                    <a:solidFill>
                      <a:srgbClr val="1227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they do</a:t>
                      </a:r>
                    </a:p>
                  </a:txBody>
                  <a:tcPr marL="64008" marR="64008" marT="36576" marB="36576">
                    <a:solidFill>
                      <a:srgbClr val="12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64008" marR="64008" marT="36576" marB="3657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t>Browse → Cart → Checkout → Track</a:t>
                      </a:r>
                    </a:p>
                  </a:txBody>
                  <a:tcPr marL="64008" marR="64008" marT="36576" marB="36576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dirty="0"/>
                        <a:t>Admin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dirty="0"/>
                        <a:t>Manage WH → Set costs → Review decisions → What-if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989320" y="3520440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Customer Journey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069080"/>
            <a:ext cx="105156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06CAB"/>
                </a:solidFill>
                <a:latin typeface="Aptos"/>
              </a:defRPr>
            </a:pPr>
            <a:r>
              <a:t>Browse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59168" y="4370832"/>
            <a:ext cx="192024" cy="0"/>
          </a:xfrm>
          <a:prstGeom prst="line">
            <a:avLst/>
          </a:prstGeom>
          <a:ln w="2159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0" y="4069080"/>
            <a:ext cx="105156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06CAB"/>
                </a:solidFill>
                <a:latin typeface="Aptos"/>
              </a:defRPr>
            </a:pPr>
            <a:r>
              <a:t>Cart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85048" y="4370832"/>
            <a:ext cx="192024" cy="0"/>
          </a:xfrm>
          <a:prstGeom prst="line">
            <a:avLst/>
          </a:prstGeom>
          <a:ln w="2159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41080" y="4069080"/>
            <a:ext cx="105156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06CAB"/>
                </a:solidFill>
                <a:latin typeface="Aptos"/>
              </a:defRPr>
            </a:pPr>
            <a:r>
              <a:t>Checkout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10928" y="4370832"/>
            <a:ext cx="192023" cy="0"/>
          </a:xfrm>
          <a:prstGeom prst="line">
            <a:avLst/>
          </a:prstGeom>
          <a:ln w="2159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66959" y="4069080"/>
            <a:ext cx="105156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06CAB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925356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5225340"/>
            <a:ext cx="5212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4141"/>
                </a:solidFill>
                <a:latin typeface="Aptos"/>
              </a:defRPr>
            </a:pPr>
            <a:r>
              <a:rPr dirty="0"/>
              <a:t>✕ Greedy ≈ 92–96% optimal (not global)</a:t>
            </a:r>
            <a:br>
              <a:rPr dirty="0"/>
            </a:br>
            <a:r>
              <a:rPr dirty="0"/>
              <a:t>✕ No real-time inventory sync</a:t>
            </a:r>
            <a:br>
              <a:rPr dirty="0"/>
            </a:br>
            <a:r>
              <a:rPr dirty="0"/>
              <a:t>✕ Mock payment; no gateway</a:t>
            </a:r>
            <a:br>
              <a:rPr dirty="0"/>
            </a:br>
            <a:r>
              <a:rPr dirty="0"/>
              <a:t>✕ Maximum 10 warehouses</a:t>
            </a:r>
            <a:endParaRPr lang="en-US" dirty="0"/>
          </a:p>
          <a:p>
            <a:pPr algn="l">
              <a:defRPr sz="1500" b="0">
                <a:solidFill>
                  <a:srgbClr val="BE4141"/>
                </a:solidFill>
                <a:latin typeface="Aptos"/>
              </a:defRPr>
            </a:pPr>
            <a:r>
              <a:rPr lang="en-US" dirty="0"/>
              <a:t>✕ No Delivery routes</a:t>
            </a:r>
          </a:p>
          <a:p>
            <a:pPr algn="l">
              <a:defRPr sz="1500" b="0">
                <a:solidFill>
                  <a:srgbClr val="BE4141"/>
                </a:solidFill>
                <a:latin typeface="Aptos"/>
              </a:defRPr>
            </a:pPr>
            <a:r>
              <a:rPr lang="en-US" dirty="0"/>
              <a:t>✕ Harder to Scale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083564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8838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Literature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145171"/>
              </p:ext>
            </p:extLst>
          </p:nvPr>
        </p:nvGraphicFramePr>
        <p:xfrm>
          <a:off x="594360" y="1143000"/>
          <a:ext cx="6035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Platform</a:t>
                      </a:r>
                    </a:p>
                  </a:txBody>
                  <a:tcPr marL="64008" marR="64008" marT="36576" marB="36576">
                    <a:solidFill>
                      <a:srgbClr val="1227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Approach</a:t>
                      </a:r>
                    </a:p>
                  </a:txBody>
                  <a:tcPr marL="64008" marR="64008" marT="36576" marB="36576">
                    <a:solidFill>
                      <a:srgbClr val="1227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Scale</a:t>
                      </a:r>
                    </a:p>
                  </a:txBody>
                  <a:tcPr marL="64008" marR="64008" marT="36576" marB="36576">
                    <a:solidFill>
                      <a:srgbClr val="12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SHEIN</a:t>
                      </a:r>
                      <a:endParaRPr dirty="0"/>
                    </a:p>
                  </a:txBody>
                  <a:tcPr marL="64008" marR="64008" marT="36576" marB="3657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Nearest warehouse with stock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AI-based inventory positioning</a:t>
                      </a:r>
                      <a:endParaRPr dirty="0"/>
                    </a:p>
                  </a:txBody>
                  <a:tcPr marL="64008" marR="64008" marT="36576" marB="3657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75</a:t>
                      </a:r>
                      <a:r>
                        <a:rPr dirty="0"/>
                        <a:t>+ WH</a:t>
                      </a:r>
                    </a:p>
                  </a:txBody>
                  <a:tcPr marL="64008" marR="64008" marT="36576" marB="36576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H&amp;M</a:t>
                      </a:r>
                      <a:endParaRPr dirty="0"/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Zone-based + order streaming</a:t>
                      </a:r>
                      <a:endParaRPr dirty="0"/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~10–15 major DCs</a:t>
                      </a:r>
                      <a:endParaRPr dirty="0"/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Amazon</a:t>
                      </a:r>
                      <a:endParaRPr dirty="0"/>
                    </a:p>
                  </a:txBody>
                  <a:tcPr marL="64008" marR="64008" marT="36576" marB="3657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CONDOR algorithm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dirty="0"/>
                    </a:p>
                  </a:txBody>
                  <a:tcPr marL="64008" marR="64008" marT="36576" marB="3657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91D2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1300+ WH</a:t>
                      </a:r>
                      <a:endParaRPr dirty="0"/>
                    </a:p>
                  </a:txBody>
                  <a:tcPr marL="64008" marR="64008" marT="36576" marB="36576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95160" y="1143000"/>
            <a:ext cx="44805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Common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600200"/>
            <a:ext cx="4389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1D21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Greedy methods prioritize fast operational decisions; OR can support offline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2788920"/>
            <a:ext cx="43891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Scale Spectrum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3794760"/>
            <a:ext cx="3749040" cy="0"/>
          </a:xfrm>
          <a:prstGeom prst="line">
            <a:avLst/>
          </a:prstGeom>
          <a:ln w="31750">
            <a:solidFill>
              <a:srgbClr val="5B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95160" y="4069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773"/>
                </a:solidFill>
                <a:latin typeface="Aptos"/>
              </a:defRPr>
            </a:pPr>
            <a:r>
              <a:t>Enterprise</a:t>
            </a:r>
            <a:br/>
            <a:r>
              <a:t>OR + ML + distributed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B6773"/>
                </a:solidFill>
                <a:latin typeface="Aptos"/>
              </a:defRPr>
            </a:pPr>
            <a:r>
              <a:t>Small</a:t>
            </a:r>
            <a:br/>
            <a:r>
              <a:t>Greedy + single server</a:t>
            </a:r>
          </a:p>
        </p:txBody>
      </p:sp>
      <p:sp>
        <p:nvSpPr>
          <p:cNvPr id="11" name="Oval 10"/>
          <p:cNvSpPr/>
          <p:nvPr/>
        </p:nvSpPr>
        <p:spPr>
          <a:xfrm>
            <a:off x="10195560" y="3493008"/>
            <a:ext cx="438912" cy="438912"/>
          </a:xfrm>
          <a:prstGeom prst="ellipse">
            <a:avLst/>
          </a:prstGeom>
          <a:solidFill>
            <a:srgbClr val="206C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46920" y="46177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6CAB"/>
                </a:solidFill>
                <a:latin typeface="Aptos"/>
              </a:defRPr>
            </a:pPr>
            <a:r>
              <a:t>Our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5166360"/>
            <a:ext cx="4297680" cy="731520"/>
          </a:xfrm>
          <a:prstGeom prst="roundRect">
            <a:avLst/>
          </a:prstGeom>
          <a:solidFill>
            <a:srgbClr val="E7F7EF"/>
          </a:solidFill>
          <a:ln w="1651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8963"/>
                </a:solidFill>
                <a:latin typeface="Aptos"/>
              </a:defRPr>
            </a:pPr>
            <a:r>
              <a:t>Gap: lightweight, complete e-commerce app with embedded greedy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496726-CA56-4ED8-8F1B-C8AE27FB30BE}"/>
              </a:ext>
            </a:extLst>
          </p:cNvPr>
          <p:cNvSpPr txBox="1"/>
          <p:nvPr/>
        </p:nvSpPr>
        <p:spPr>
          <a:xfrm>
            <a:off x="493776" y="782598"/>
            <a:ext cx="31735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Inter Variable"/>
              </a:rPr>
              <a:t>What Large-Scale Systems Do:</a:t>
            </a:r>
            <a:endParaRPr lang="en-US" b="0" i="0" dirty="0">
              <a:solidFill>
                <a:schemeClr val="tx2">
                  <a:lumMod val="40000"/>
                  <a:lumOff val="60000"/>
                </a:schemeClr>
              </a:solidFill>
              <a:effectLst/>
              <a:latin typeface="Inter Variable"/>
            </a:endParaRP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167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Proposed System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1" y="804672"/>
            <a:ext cx="4061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773"/>
                </a:solidFill>
                <a:latin typeface="Aptos"/>
              </a:defRPr>
            </a:pPr>
            <a:r>
              <a:rPr lang="en-US" sz="2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Methodology:  Waterfall</a:t>
            </a:r>
            <a:endParaRPr sz="20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6320" y="1495267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740"/>
                </a:solidFill>
                <a:latin typeface="Aptos"/>
              </a:defRPr>
            </a:pPr>
            <a:r>
              <a:rPr sz="2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48256"/>
            <a:ext cx="274320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740"/>
                </a:solidFill>
                <a:latin typeface="Aptos"/>
              </a:defRPr>
            </a:pPr>
            <a:r>
              <a:rPr dirty="0"/>
              <a:t>Frontend: HTML + CSS + 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79776"/>
            <a:ext cx="2743200" cy="594360"/>
          </a:xfrm>
          <a:prstGeom prst="roundRect">
            <a:avLst/>
          </a:prstGeom>
          <a:solidFill>
            <a:srgbClr val="F2F5F7"/>
          </a:solidFill>
          <a:ln w="16510">
            <a:solidFill>
              <a:srgbClr val="5B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740"/>
                </a:solidFill>
                <a:latin typeface="Aptos"/>
              </a:defRPr>
            </a:pPr>
            <a:r>
              <a:rPr dirty="0"/>
              <a:t>Backend: PHP 8.x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11296"/>
            <a:ext cx="2743200" cy="594360"/>
          </a:xfrm>
          <a:prstGeom prst="roundRect">
            <a:avLst/>
          </a:prstGeom>
          <a:solidFill>
            <a:srgbClr val="E7F7EF"/>
          </a:solidFill>
          <a:ln w="1651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740"/>
                </a:solidFill>
                <a:latin typeface="Aptos"/>
              </a:defRPr>
            </a:pPr>
            <a:r>
              <a:t>Database: MySQL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42816"/>
            <a:ext cx="2743200" cy="594360"/>
          </a:xfrm>
          <a:prstGeom prst="roundRect">
            <a:avLst/>
          </a:prstGeom>
          <a:solidFill>
            <a:srgbClr val="F2F5F7"/>
          </a:solidFill>
          <a:ln w="16510">
            <a:solidFill>
              <a:srgbClr val="5B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740"/>
                </a:solidFill>
                <a:latin typeface="Aptos"/>
              </a:defRPr>
            </a:pPr>
            <a:r>
              <a:t>Server: XAMPP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974336"/>
            <a:ext cx="274320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740"/>
                </a:solidFill>
                <a:latin typeface="Aptos"/>
              </a:defRPr>
            </a:pPr>
            <a:r>
              <a:t>Algorithm: PHP greedy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069502"/>
            <a:ext cx="7223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22740"/>
                </a:solidFill>
                <a:latin typeface="Aptos"/>
              </a:defRPr>
            </a:pPr>
            <a:r>
              <a:rPr sz="2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System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08760"/>
            <a:ext cx="5394960" cy="530352"/>
          </a:xfrm>
          <a:prstGeom prst="roundRect">
            <a:avLst/>
          </a:prstGeom>
          <a:solidFill>
            <a:srgbClr val="F2F5F7"/>
          </a:solidFill>
          <a:ln w="16510">
            <a:solidFill>
              <a:srgbClr val="5B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B6773"/>
                </a:solidFill>
                <a:latin typeface="Aptos"/>
              </a:defRPr>
            </a:pPr>
            <a:r>
              <a:t>Order placed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95160" y="2048255"/>
            <a:ext cx="0" cy="164593"/>
          </a:xfrm>
          <a:prstGeom prst="line">
            <a:avLst/>
          </a:prstGeom>
          <a:ln w="2159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7680" y="2240280"/>
            <a:ext cx="5394960" cy="530352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6CAB"/>
                </a:solidFill>
                <a:latin typeface="Aptos"/>
              </a:defRPr>
            </a:pPr>
            <a:r>
              <a:t>Load order</a:t>
            </a:r>
            <a:br/>
            <a:r>
              <a:t>stock + cost params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60" y="2779776"/>
            <a:ext cx="0" cy="164592"/>
          </a:xfrm>
          <a:prstGeom prst="line">
            <a:avLst/>
          </a:prstGeom>
          <a:ln w="2159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2971800"/>
            <a:ext cx="5394960" cy="530352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6CAB"/>
                </a:solidFill>
                <a:latin typeface="Aptos"/>
              </a:defRPr>
            </a:pPr>
            <a:r>
              <a:t>Compute warehouse</a:t>
            </a:r>
            <a:br/>
            <a:r>
              <a:t>costs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95160" y="3511296"/>
            <a:ext cx="0" cy="164591"/>
          </a:xfrm>
          <a:prstGeom prst="line">
            <a:avLst/>
          </a:prstGeom>
          <a:ln w="2159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97680" y="3703320"/>
            <a:ext cx="5394960" cy="530352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6CAB"/>
                </a:solidFill>
                <a:latin typeface="Aptos"/>
              </a:defRPr>
            </a:pPr>
            <a:r>
              <a:t>Single WH vs.</a:t>
            </a:r>
            <a:br/>
            <a:r>
              <a:t>split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5160" y="4242816"/>
            <a:ext cx="0" cy="164591"/>
          </a:xfrm>
          <a:prstGeom prst="line">
            <a:avLst/>
          </a:prstGeom>
          <a:ln w="2159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97680" y="4434840"/>
            <a:ext cx="5394960" cy="530352"/>
          </a:xfrm>
          <a:prstGeom prst="roundRect">
            <a:avLst/>
          </a:prstGeom>
          <a:solidFill>
            <a:srgbClr val="E7F7EF"/>
          </a:solidFill>
          <a:ln w="1651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8963"/>
                </a:solidFill>
                <a:latin typeface="Aptos"/>
              </a:defRPr>
            </a:pPr>
            <a:r>
              <a:t>Deduct inventory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95160" y="4974336"/>
            <a:ext cx="0" cy="164592"/>
          </a:xfrm>
          <a:prstGeom prst="line">
            <a:avLst/>
          </a:prstGeom>
          <a:ln w="2159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97680" y="5166360"/>
            <a:ext cx="5394960" cy="530352"/>
          </a:xfrm>
          <a:prstGeom prst="roundRect">
            <a:avLst/>
          </a:prstGeom>
          <a:solidFill>
            <a:srgbClr val="E7F7EF"/>
          </a:solidFill>
          <a:ln w="1651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8963"/>
                </a:solidFill>
                <a:latin typeface="Aptos"/>
              </a:defRPr>
            </a:pPr>
            <a:r>
              <a:t>Admin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48574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53035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3-Tier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108960" cy="64008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740"/>
                </a:solidFill>
                <a:latin typeface="Aptos"/>
              </a:defRPr>
            </a:pPr>
            <a:r>
              <a:t>Browser</a:t>
            </a:r>
            <a:br/>
            <a:r>
              <a:t>HTML / CSS / 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3108960" cy="640080"/>
          </a:xfrm>
          <a:prstGeom prst="roundRect">
            <a:avLst/>
          </a:prstGeom>
          <a:solidFill>
            <a:srgbClr val="F2F5F7"/>
          </a:solidFill>
          <a:ln w="16510">
            <a:solidFill>
              <a:srgbClr val="5B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740"/>
                </a:solidFill>
                <a:latin typeface="Aptos"/>
              </a:defRPr>
            </a:pPr>
            <a:r>
              <a:t>PHP Application</a:t>
            </a:r>
            <a:br/>
            <a:r>
              <a:t>Controllers + Greedy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3108960" cy="640080"/>
          </a:xfrm>
          <a:prstGeom prst="roundRect">
            <a:avLst/>
          </a:prstGeom>
          <a:solidFill>
            <a:srgbClr val="E7F7EF"/>
          </a:solidFill>
          <a:ln w="1651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740"/>
                </a:solidFill>
                <a:latin typeface="Aptos"/>
              </a:defRPr>
            </a:pPr>
            <a:r>
              <a:t>MySQL</a:t>
            </a:r>
            <a:br/>
            <a:r>
              <a:t>Data + Cost Parameters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057400"/>
            <a:ext cx="0" cy="246888"/>
          </a:xfrm>
          <a:prstGeom prst="line">
            <a:avLst/>
          </a:prstGeom>
          <a:ln w="2286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40280" y="2971800"/>
            <a:ext cx="0" cy="246888"/>
          </a:xfrm>
          <a:prstGeom prst="line">
            <a:avLst/>
          </a:prstGeom>
          <a:ln w="2286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680" y="960120"/>
            <a:ext cx="6858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Greedy Algorithm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481328"/>
            <a:ext cx="105156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06CAB"/>
                </a:solidFill>
                <a:latin typeface="Aptos"/>
              </a:defRPr>
            </a:pPr>
            <a:r>
              <a:t>Load order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56248" y="1783080"/>
            <a:ext cx="301752" cy="0"/>
          </a:xfrm>
          <a:prstGeom prst="line">
            <a:avLst/>
          </a:prstGeom>
          <a:ln w="1905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03720" y="1481328"/>
            <a:ext cx="105156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06CAB"/>
                </a:solidFill>
                <a:latin typeface="Aptos"/>
              </a:defRPr>
            </a:pPr>
            <a:r>
              <a:t>Compute costs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73567" y="1783080"/>
            <a:ext cx="301752" cy="0"/>
          </a:xfrm>
          <a:prstGeom prst="line">
            <a:avLst/>
          </a:prstGeom>
          <a:ln w="1905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21040" y="1481328"/>
            <a:ext cx="105156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06CAB"/>
                </a:solidFill>
                <a:latin typeface="Aptos"/>
              </a:defRPr>
            </a:pPr>
            <a:r>
              <a:t>Single &lt; Split?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90888" y="1783080"/>
            <a:ext cx="301752" cy="0"/>
          </a:xfrm>
          <a:prstGeom prst="line">
            <a:avLst/>
          </a:prstGeom>
          <a:ln w="1905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38360" y="1481328"/>
            <a:ext cx="105156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06CAB"/>
                </a:solidFill>
                <a:latin typeface="Aptos"/>
              </a:defRPr>
            </a:pPr>
            <a:r>
              <a:t>Assign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08208" y="1783080"/>
            <a:ext cx="118872" cy="0"/>
          </a:xfrm>
          <a:prstGeom prst="line">
            <a:avLst/>
          </a:prstGeom>
          <a:ln w="1905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0" y="1481328"/>
            <a:ext cx="1051560" cy="594360"/>
          </a:xfrm>
          <a:prstGeom prst="roundRect">
            <a:avLst/>
          </a:prstGeom>
          <a:solidFill>
            <a:srgbClr val="E7F7EF"/>
          </a:solidFill>
          <a:ln w="1651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8963"/>
                </a:solidFill>
                <a:latin typeface="Aptos"/>
              </a:defRPr>
            </a:pPr>
            <a:r>
              <a:t>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514600"/>
            <a:ext cx="676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Key Database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92608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1D21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warehouses · inventory · </a:t>
            </a:r>
            <a:r>
              <a:rPr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cost_params</a:t>
            </a: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 · orders · </a:t>
            </a:r>
            <a:r>
              <a:rPr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order_items</a:t>
            </a:r>
            <a:b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shipments · </a:t>
            </a:r>
            <a:r>
              <a:rPr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fulfillment_log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97680" y="3794760"/>
            <a:ext cx="6766560" cy="960120"/>
          </a:xfrm>
          <a:prstGeom prst="roundRect">
            <a:avLst/>
          </a:prstGeom>
          <a:solidFill>
            <a:srgbClr val="E7F7EF"/>
          </a:solidFill>
          <a:ln w="1651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8963"/>
                </a:solidFill>
                <a:latin typeface="Aptos"/>
              </a:defRPr>
            </a:pPr>
            <a:r>
              <a:rPr dirty="0"/>
              <a:t>Cost = distance × rate + handling × items + weight surcharge + pre-shipment fee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5074920"/>
            <a:ext cx="1965960" cy="594360"/>
          </a:xfrm>
          <a:prstGeom prst="roundRect">
            <a:avLst/>
          </a:prstGeom>
          <a:solidFill>
            <a:srgbClr val="F2F5F7"/>
          </a:solidFill>
          <a:ln w="16510">
            <a:solidFill>
              <a:srgbClr val="5B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740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5074920"/>
            <a:ext cx="1965960" cy="594360"/>
          </a:xfrm>
          <a:prstGeom prst="roundRect">
            <a:avLst/>
          </a:prstGeom>
          <a:solidFill>
            <a:srgbClr val="E5F1FA"/>
          </a:solidFill>
          <a:ln w="1651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740"/>
                </a:solidFill>
                <a:latin typeface="Aptos"/>
              </a:defRPr>
            </a:pPr>
            <a:r>
              <a:t>shipments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074920"/>
            <a:ext cx="1965960" cy="594360"/>
          </a:xfrm>
          <a:prstGeom prst="roundRect">
            <a:avLst/>
          </a:prstGeom>
          <a:solidFill>
            <a:srgbClr val="E7F7EF"/>
          </a:solidFill>
          <a:ln w="1651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740"/>
                </a:solidFill>
                <a:latin typeface="Aptos"/>
              </a:defRPr>
            </a:pPr>
            <a:r>
              <a:t>warehouses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09360" y="5376672"/>
            <a:ext cx="347472" cy="0"/>
          </a:xfrm>
          <a:prstGeom prst="line">
            <a:avLst/>
          </a:prstGeom>
          <a:ln w="2159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32520" y="5376672"/>
            <a:ext cx="347472" cy="0"/>
          </a:xfrm>
          <a:prstGeom prst="line">
            <a:avLst/>
          </a:prstGeom>
          <a:ln w="2159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83564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9031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Feasibility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06324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83080" y="2148840"/>
            <a:ext cx="777240" cy="777240"/>
          </a:xfrm>
          <a:prstGeom prst="ellipse">
            <a:avLst/>
          </a:prstGeom>
          <a:solidFill>
            <a:srgbClr val="258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83080" y="23317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2740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B6773"/>
                </a:solidFill>
                <a:latin typeface="Aptos"/>
              </a:defRPr>
            </a:pPr>
            <a:r>
              <a:rPr dirty="0"/>
              <a:t>PHP + MySQL are standard.</a:t>
            </a:r>
            <a:br>
              <a:rPr dirty="0"/>
            </a:br>
            <a:r>
              <a:rPr dirty="0"/>
              <a:t>Greedy engine runs quickly on project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306324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03520" y="2148840"/>
            <a:ext cx="777240" cy="77724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23317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15468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2740"/>
                </a:solidFill>
                <a:latin typeface="Aptos"/>
              </a:defRPr>
            </a:pPr>
            <a:r>
              <a:t>OPERATIONAL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290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B6773"/>
                </a:solidFill>
                <a:latin typeface="Aptos"/>
              </a:defRPr>
            </a:pPr>
            <a:r>
              <a:rPr dirty="0"/>
              <a:t>Standard e-commerce UX.</a:t>
            </a:r>
            <a:br>
              <a:rPr dirty="0"/>
            </a:br>
            <a:r>
              <a:rPr dirty="0"/>
              <a:t>No external APIs; synthetic demo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828800"/>
            <a:ext cx="306324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23960" y="2148840"/>
            <a:ext cx="777240" cy="777240"/>
          </a:xfrm>
          <a:prstGeom prst="ellipse">
            <a:avLst/>
          </a:prstGeom>
          <a:solidFill>
            <a:srgbClr val="258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23317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15468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2740"/>
                </a:solidFill>
                <a:latin typeface="Aptos"/>
              </a:defRPr>
            </a:pPr>
            <a:r>
              <a:t>ECONOMIC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474234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B6773"/>
                </a:solidFill>
                <a:latin typeface="Aptos"/>
              </a:defRPr>
            </a:pPr>
            <a:r>
              <a:rPr dirty="0"/>
              <a:t>Open-source tools.</a:t>
            </a:r>
            <a:br>
              <a:rPr dirty="0"/>
            </a:br>
            <a:r>
              <a:rPr dirty="0"/>
              <a:t>Estimated software cost: ≈ $0.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4800600"/>
            <a:ext cx="8138160" cy="777240"/>
          </a:xfrm>
          <a:prstGeom prst="roundRect">
            <a:avLst/>
          </a:prstGeom>
          <a:solidFill>
            <a:srgbClr val="E7F7EF"/>
          </a:solidFill>
          <a:ln w="16510">
            <a:solidFill>
              <a:srgbClr val="25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8963"/>
                </a:solidFill>
                <a:latin typeface="Aptos"/>
              </a:defRPr>
            </a:pPr>
            <a:r>
              <a:t>Conclusion: Technically, operationally, and economically feasible for an academic prototype.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173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Expected Outcome &amp;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05840"/>
            <a:ext cx="3063240" cy="1600200"/>
          </a:xfrm>
          <a:prstGeom prst="roundRect">
            <a:avLst/>
          </a:prstGeom>
          <a:solidFill>
            <a:srgbClr val="E5F1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64008" cy="16002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11556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740"/>
                </a:solidFill>
                <a:latin typeface="Aptos"/>
              </a:defRPr>
            </a:pPr>
            <a:r>
              <a:t>Expected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08760"/>
            <a:ext cx="2788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D21"/>
                </a:solidFill>
                <a:latin typeface="Aptos"/>
              </a:defRPr>
            </a:pPr>
            <a:r>
              <a:t>• Working multi-warehouse e-commerce</a:t>
            </a:r>
            <a:br/>
            <a:r>
              <a:t>• Greedy single-vs-split decision</a:t>
            </a:r>
            <a:br/>
            <a:r>
              <a:t>• Admin cost breakdown +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88920"/>
            <a:ext cx="3063240" cy="1600200"/>
          </a:xfrm>
          <a:prstGeom prst="roundRect">
            <a:avLst/>
          </a:prstGeom>
          <a:solidFill>
            <a:srgbClr val="E7F7E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788920"/>
            <a:ext cx="64008" cy="1600200"/>
          </a:xfrm>
          <a:prstGeom prst="rect">
            <a:avLst/>
          </a:prstGeom>
          <a:solidFill>
            <a:srgbClr val="258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8986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740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91839"/>
            <a:ext cx="2788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D21"/>
                </a:solidFill>
                <a:latin typeface="Aptos"/>
              </a:defRPr>
            </a:pPr>
            <a:r>
              <a:t>• Potential 10–25% cost reduction vs. baseline</a:t>
            </a:r>
            <a:br/>
            <a:r>
              <a:t>• Transparent decision logs</a:t>
            </a:r>
            <a:br/>
            <a:r>
              <a:t>• DB-driven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005840"/>
            <a:ext cx="749807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12-Week Development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1600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7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1993392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1D21"/>
                </a:solidFill>
                <a:latin typeface="Aptos"/>
              </a:defRPr>
            </a:pPr>
            <a:r>
              <a:rPr dirty="0"/>
              <a:t>Literature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0352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0644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1228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81812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2104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82396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32688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82980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332720" y="199339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800600" y="2002536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303520" y="2002536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77639" y="237744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1D21"/>
                </a:solidFill>
                <a:latin typeface="Aptos"/>
              </a:defRPr>
            </a:pPr>
            <a:r>
              <a:t>DB Design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0352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0644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81228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520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81812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2104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82396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32688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82980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332720" y="237744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303520" y="2386584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5806440" y="2386584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77639" y="276148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1D21"/>
                </a:solidFill>
                <a:latin typeface="Aptos"/>
              </a:defRPr>
            </a:pPr>
            <a:r>
              <a:t>Auth + Catalog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0060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30352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80644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30936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81228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31520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81812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32104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82396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32688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82980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332720" y="276148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806440" y="2770632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309360" y="2770632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977639" y="3145536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1D21"/>
                </a:solidFill>
                <a:latin typeface="Aptos"/>
              </a:defRPr>
            </a:pPr>
            <a:r>
              <a:rPr dirty="0"/>
              <a:t>Cart + Checkout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0060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30352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80644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30936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81228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31520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81812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32104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82396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32688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82980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332720" y="314553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6309360" y="3154680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6812280" y="3154680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77639" y="3529584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1D21"/>
                </a:solidFill>
                <a:latin typeface="Aptos"/>
              </a:defRPr>
            </a:pPr>
            <a:r>
              <a:t>WH + Inventory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0060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30352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80644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30936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81228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31520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81812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32104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82396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32688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82980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0332720" y="352958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6812280" y="3538728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315200" y="3538728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977639" y="3913632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1D21"/>
                </a:solidFill>
                <a:latin typeface="Aptos"/>
              </a:defRPr>
            </a:pPr>
            <a:r>
              <a:t>Greedy Engine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0060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30352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580644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30936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681228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31520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81812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832104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882396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32688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982980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0332720" y="391363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7315200" y="3922776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7818120" y="3922776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977639" y="429768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1D21"/>
                </a:solidFill>
                <a:latin typeface="Aptos"/>
              </a:defRPr>
            </a:pPr>
            <a:r>
              <a:rPr dirty="0"/>
              <a:t>Dashboard + Reports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80060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530352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580644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630936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681228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31520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781812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832104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882396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932688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82980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0332720" y="4297680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7818120" y="4306824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8321040" y="4306824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977639" y="46817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1D21"/>
                </a:solidFill>
                <a:latin typeface="Aptos"/>
              </a:defRPr>
            </a:pPr>
            <a:r>
              <a:t>What-if + Polish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80060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530352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580644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630936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681228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31520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781812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32104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882396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932688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982980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0332720" y="4681728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8321040" y="4690872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8823960" y="4690872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3977639" y="5065776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1D21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80060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530352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580644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30936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81228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731520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81812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832104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882396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932688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982980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10332720" y="5065776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8823960" y="5074920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9326880" y="5074920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3977639" y="5449824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1D21"/>
                </a:solidFill>
                <a:latin typeface="Aptos"/>
              </a:defRPr>
            </a:pPr>
            <a:r>
              <a:rPr dirty="0"/>
              <a:t>Report + Submit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80060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530352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580644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630936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681228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731520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781812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32104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882396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32688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82980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10332720" y="5449824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9829800" y="5458968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173"/>
          <p:cNvSpPr/>
          <p:nvPr/>
        </p:nvSpPr>
        <p:spPr>
          <a:xfrm>
            <a:off x="10332720" y="5458968"/>
            <a:ext cx="457200" cy="237744"/>
          </a:xfrm>
          <a:prstGeom prst="round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ounded Rectangle 174"/>
          <p:cNvSpPr/>
          <p:nvPr/>
        </p:nvSpPr>
        <p:spPr>
          <a:xfrm>
            <a:off x="4069080" y="5989320"/>
            <a:ext cx="7132320" cy="457200"/>
          </a:xfrm>
          <a:prstGeom prst="roundRect">
            <a:avLst/>
          </a:prstGeom>
          <a:solidFill>
            <a:srgbClr val="F2F5F7"/>
          </a:solidFill>
          <a:ln w="1651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5B6773"/>
                </a:solidFill>
                <a:latin typeface="Aptos"/>
              </a:defRPr>
            </a:pPr>
            <a:r>
              <a:t>Timeline can be adjusted to match actual project progress.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83564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3668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Conclusion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5212080" cy="1417320"/>
          </a:xfrm>
          <a:prstGeom prst="roundRect">
            <a:avLst/>
          </a:prstGeom>
          <a:solidFill>
            <a:srgbClr val="E5F1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64008" cy="1417320"/>
          </a:xfrm>
          <a:prstGeom prst="rect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1612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740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D21"/>
                </a:solidFill>
                <a:latin typeface="Aptos"/>
              </a:defRPr>
            </a:pPr>
            <a:r>
              <a:t>A small-scale greedy fulfillment implementation embedded in a complete e-commerce application for 5–10 warehouses.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5212080" cy="1965960"/>
          </a:xfrm>
          <a:prstGeom prst="roundRect">
            <a:avLst/>
          </a:prstGeom>
          <a:solidFill>
            <a:srgbClr val="E7F7E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64008" cy="1965960"/>
          </a:xfrm>
          <a:prstGeom prst="rect">
            <a:avLst/>
          </a:prstGeom>
          <a:solidFill>
            <a:srgbClr val="258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807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740"/>
                </a:solidFill>
                <a:latin typeface="Aptos"/>
              </a:defRPr>
            </a:pPr>
            <a:r>
              <a:t>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004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D21"/>
                </a:solidFill>
                <a:latin typeface="Aptos"/>
              </a:defRPr>
            </a:pPr>
            <a:r>
              <a:t>• Embedded greedy engine, not a standalone solver</a:t>
            </a:r>
            <a:br/>
            <a:r>
              <a:t>• Parameterized, DB-driven cost model</a:t>
            </a:r>
            <a:br/>
            <a:r>
              <a:t>• Transparent decision log per order</a:t>
            </a:r>
            <a:br/>
            <a:r>
              <a:t>• Practical single-server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051560"/>
            <a:ext cx="49377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Future Enhancements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3063240"/>
            <a:ext cx="4572000" cy="0"/>
          </a:xfrm>
          <a:prstGeom prst="line">
            <a:avLst/>
          </a:prstGeom>
          <a:ln w="38100">
            <a:solidFill>
              <a:srgbClr val="206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17920" y="2670048"/>
            <a:ext cx="594360" cy="59436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81635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566160"/>
            <a:ext cx="960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740"/>
                </a:solidFill>
                <a:latin typeface="Aptos"/>
              </a:defRPr>
            </a:pP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Inventory</a:t>
            </a:r>
            <a:endParaRPr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89320" y="3886200"/>
            <a:ext cx="105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773"/>
                </a:solidFill>
                <a:latin typeface="Aptos"/>
              </a:defRPr>
            </a:pPr>
            <a:r>
              <a:rPr lang="en-US" dirty="0"/>
              <a:t>Real Time Sync</a:t>
            </a:r>
            <a:endParaRPr dirty="0"/>
          </a:p>
        </p:txBody>
      </p:sp>
      <p:sp>
        <p:nvSpPr>
          <p:cNvPr id="18" name="Oval 17"/>
          <p:cNvSpPr/>
          <p:nvPr/>
        </p:nvSpPr>
        <p:spPr>
          <a:xfrm>
            <a:off x="7242048" y="2670048"/>
            <a:ext cx="594360" cy="59436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42048" y="281635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566160"/>
            <a:ext cx="960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Proximity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88620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773"/>
                </a:solidFill>
                <a:latin typeface="Aptos"/>
              </a:defRPr>
            </a:pPr>
            <a:r>
              <a:t>Radius search</a:t>
            </a:r>
          </a:p>
        </p:txBody>
      </p:sp>
      <p:sp>
        <p:nvSpPr>
          <p:cNvPr id="22" name="Oval 21"/>
          <p:cNvSpPr/>
          <p:nvPr/>
        </p:nvSpPr>
        <p:spPr>
          <a:xfrm>
            <a:off x="8266175" y="2670048"/>
            <a:ext cx="594360" cy="59436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6175" y="281635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566160"/>
            <a:ext cx="960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Dynamic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5" y="388620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773"/>
                </a:solidFill>
                <a:latin typeface="Aptos"/>
              </a:defRPr>
            </a:pPr>
            <a:r>
              <a:t>Seasonal costs</a:t>
            </a:r>
          </a:p>
        </p:txBody>
      </p:sp>
      <p:sp>
        <p:nvSpPr>
          <p:cNvPr id="26" name="Oval 25"/>
          <p:cNvSpPr/>
          <p:nvPr/>
        </p:nvSpPr>
        <p:spPr>
          <a:xfrm>
            <a:off x="9290304" y="2670048"/>
            <a:ext cx="594360" cy="59436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0304" y="281635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566160"/>
            <a:ext cx="960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VRP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388620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773"/>
                </a:solidFill>
                <a:latin typeface="Aptos"/>
              </a:defRPr>
            </a:pPr>
            <a:r>
              <a:t>Routes</a:t>
            </a:r>
          </a:p>
        </p:txBody>
      </p:sp>
      <p:sp>
        <p:nvSpPr>
          <p:cNvPr id="30" name="Oval 29"/>
          <p:cNvSpPr/>
          <p:nvPr/>
        </p:nvSpPr>
        <p:spPr>
          <a:xfrm>
            <a:off x="10314432" y="2670048"/>
            <a:ext cx="594360" cy="594360"/>
          </a:xfrm>
          <a:prstGeom prst="ellipse">
            <a:avLst/>
          </a:prstGeom>
          <a:solidFill>
            <a:srgbClr val="2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14432" y="281635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1552" y="3566160"/>
            <a:ext cx="960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740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388620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773"/>
                </a:solidFill>
                <a:latin typeface="Aptos"/>
              </a:defRPr>
            </a:pPr>
            <a:r>
              <a:t>50+ WH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1011</Words>
  <Application>Microsoft Office PowerPoint</Application>
  <PresentationFormat>Widescreen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Inter Variable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anish tamang</cp:lastModifiedBy>
  <cp:revision>5</cp:revision>
  <dcterms:created xsi:type="dcterms:W3CDTF">2013-01-27T09:14:16Z</dcterms:created>
  <dcterms:modified xsi:type="dcterms:W3CDTF">2026-09-23T18:28:37Z</dcterms:modified>
  <cp:category/>
</cp:coreProperties>
</file>